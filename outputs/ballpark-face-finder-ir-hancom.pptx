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dium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493776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야구장 얼굴찾기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38912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중계 화면 속 내 얼굴을 찾는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30초 팬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00600"/>
            <a:ext cx="63093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Book rooms with locals가 숙박 시장을 열었듯,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우리는 직관의 순간을 얼굴 기반 팬 데이터의 시작점으로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팬은 본인도 모르게 경기의 일부가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한 명의 페르소나에서 시작합니다.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30352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  <a:latin typeface="Malgun Gothic"/>
              </a:rPr>
              <a:t>“어제 중계에 내가 잡혔다는데,</a:t>
            </a:r>
          </a:p>
          <a:p>
            <a:pPr algn="l"/>
            <a:r>
              <a:rPr sz="2400" b="1">
                <a:solidFill>
                  <a:srgbClr val="121212"/>
                </a:solidFill>
                <a:latin typeface="Malgun Gothic"/>
              </a:rPr>
              <a:t>어느 장면인지 찾는 건 거의 불가능해요.”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3246120" cy="31546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65376"/>
            <a:ext cx="284378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5A5A5A"/>
                </a:solidFill>
                <a:latin typeface="Malgun Gothic"/>
              </a:rPr>
              <a:t>페르소나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450592"/>
            <a:ext cx="2843784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주말 직관 팬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20대 후반 · 친구와 방문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인스타 업로드 욕구 높음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결제는 작게, 즉시성은 크게 반응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32120"/>
            <a:ext cx="8686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Malgun Gothic"/>
              </a:rPr>
              <a:t>문제는 기술이 아니라 ‘내가 왜 얼굴을 올려야 하는가’입니다.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기존 대안은 팬의 욕구를 끝까지 해결하지 못한다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방송 클립, SNS 검색, 수동 캡처는 모두 시간이 오래 걸립니다.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2926080" cy="19659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68296"/>
            <a:ext cx="25237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방송 다시보기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53512"/>
            <a:ext cx="2523744" cy="10058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분량이 길고 내 얼굴이 나온 위치를 모른다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2148840"/>
            <a:ext cx="2926080" cy="19659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7" y="2368296"/>
            <a:ext cx="25237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친구 제보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2953512"/>
            <a:ext cx="2523744" cy="10058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정확한 타임스탬프와 고화질 컷을 얻기 어렵다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148840"/>
            <a:ext cx="2926080" cy="19659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368296"/>
            <a:ext cx="25237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구단 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953512"/>
            <a:ext cx="2523744" cy="10058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공식 컷은 선수 중심이고 관중 개인화가 약하다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97840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우리는 ‘추억 찾기’라는 보상을 먼저 주고, 얼굴 등록의 거부감을 낮춥니다.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왜 지금인가: 얼굴 인식은 가능하지만 수용성이 병목이다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시장 변곡점은 기술 성능보다 행동 변화에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2148840" cy="11155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7830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  <a:latin typeface="Malgun Gothic"/>
              </a:rPr>
              <a:t>1,231만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06624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Malgun Gothic"/>
              </a:rPr>
              <a:t>2025 KBO 정규시즌 관중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011680"/>
            <a:ext cx="2148840" cy="11155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76272"/>
            <a:ext cx="17830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  <a:latin typeface="Malgun Gothic"/>
              </a:rPr>
              <a:t>82.9%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706624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Malgun Gothic"/>
              </a:rPr>
              <a:t>좌석 점유율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011680"/>
            <a:ext cx="2148840" cy="11155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176272"/>
            <a:ext cx="17830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  <a:latin typeface="Malgun Gothic"/>
              </a:rPr>
              <a:t>1초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706624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Malgun Gothic"/>
              </a:rPr>
              <a:t>얼굴패스 본인확인 보도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78224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977639"/>
            <a:ext cx="9765792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Malgun Gothic"/>
              </a:rPr>
              <a:t>AI 얼굴 임베딩과 벡터 검색 비용은 MVP 수준에서 충분히 낮아졌다.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498848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398264"/>
            <a:ext cx="9765792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Malgun Gothic"/>
              </a:rPr>
              <a:t>티켓 업계는 얼굴패스를 시작했지만, 개인정보 거부감 때문에 팬 경험 설계가 필요하다.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919472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818888"/>
            <a:ext cx="9765792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Malgun Gothic"/>
              </a:rPr>
              <a:t>생성형 이미지 유행은 얼굴 기반 서비스에 대한 호기심과 경계심을 동시에 키웠다.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03327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787878"/>
                </a:solidFill>
                <a:latin typeface="Malgun Gothic"/>
              </a:rPr>
              <a:t>Sources: KBO 2025 관중 보도, NOL/인터파크 얼굴패스 FAQ, 개인정보보호위원회 생체정보 보호 안내서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해결책은 얼굴 인증이 아니라 팬 보상이다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One-liner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6400800" cy="1600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300" b="1">
                <a:solidFill>
                  <a:srgbClr val="121212"/>
                </a:solidFill>
                <a:latin typeface="Malgun Gothic"/>
              </a:rPr>
              <a:t>직관 팬을 위한 AI 얼굴 탐색 서비스.</a:t>
            </a:r>
          </a:p>
          <a:p>
            <a:pPr algn="l"/>
            <a:r>
              <a:rPr sz="2300" b="1">
                <a:solidFill>
                  <a:srgbClr val="121212"/>
                </a:solidFill>
                <a:latin typeface="Malgun Gothic"/>
              </a:rPr>
              <a:t>기존 방송 다시보기와 달리,</a:t>
            </a:r>
          </a:p>
          <a:p>
            <a:pPr algn="l"/>
            <a:r>
              <a:rPr sz="2300" b="1">
                <a:solidFill>
                  <a:srgbClr val="121212"/>
                </a:solidFill>
                <a:latin typeface="Malgun Gothic"/>
              </a:rPr>
              <a:t>얼굴 한 장으로 내 장면과 공유 가능한 컷을 바로 찾는다.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874519"/>
            <a:ext cx="2743200" cy="20116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2093976"/>
            <a:ext cx="234086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핵심 차별점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679191"/>
            <a:ext cx="2340864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돈과 얼굴을 먼저 연결하지 않는다.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추억과 얼굴을 먼저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94960"/>
            <a:ext cx="8503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Malgun Gothic"/>
              </a:rPr>
              <a:t>결제와 제휴는 사용자가 가치를 확인한 뒤 별도 동의로 붙입니다.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30초 데모는 한 행동과 한 결과만 보여준다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시작 화면 → 얼굴 업로드 → 결과 잠금 해제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15468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39696"/>
            <a:ext cx="27523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1. 영상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24912"/>
            <a:ext cx="2752344" cy="1463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분석 완료된 경기 영상을 고른다.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광고 영역은 팬 맥락형 상품으로 판매 가능.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20240"/>
            <a:ext cx="315468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2139696"/>
            <a:ext cx="27523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2457A7"/>
                </a:solidFill>
                <a:latin typeface="Malgun Gothic"/>
              </a:rPr>
              <a:t>2. 얼굴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724912"/>
            <a:ext cx="2752344" cy="1463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정면 사진 한 장으로 ArcFace 임베딩을 생성한다.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154680" cy="24231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2139696"/>
            <a:ext cx="27523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C7C54"/>
                </a:solidFill>
                <a:latin typeface="Malgun Gothic"/>
              </a:rPr>
              <a:t>3. 결과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724912"/>
            <a:ext cx="2752344" cy="1463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타임스탬프, 얼굴 crop, 다운로드 리포트를 보여준다.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97840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Malgun Gothic"/>
              </a:rPr>
              <a:t>멘트 1줄: “매주 3시간 걸리던 다시보기를 30초 검색 경험으로 바꿉니다.”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MVP는 이미 작동 가능한 구조로 쪼개져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제품 자랑이 아니라 ‘작동하나?’ 의심을 잡는 장입니다.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55448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551176"/>
            <a:ext cx="11521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36391"/>
            <a:ext cx="1152144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경기 사진/영상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788920"/>
            <a:ext cx="3474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B9BCC4"/>
                </a:solidFill>
                <a:latin typeface="Malgun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331720"/>
            <a:ext cx="155448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551176"/>
            <a:ext cx="11521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136391"/>
            <a:ext cx="1152144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InsightFace 얼굴 검출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788920"/>
            <a:ext cx="3474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B9BCC4"/>
                </a:solidFill>
                <a:latin typeface="Malgun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331720"/>
            <a:ext cx="155448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7" y="2551176"/>
            <a:ext cx="11521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임베딩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3136391"/>
            <a:ext cx="1152144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ArcFace 벡터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88920"/>
            <a:ext cx="3474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B9BCC4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331720"/>
            <a:ext cx="155448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2551176"/>
            <a:ext cx="11521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3136391"/>
            <a:ext cx="1152144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FAISS 유사도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788920"/>
            <a:ext cx="3474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B9BCC4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331720"/>
            <a:ext cx="1554480" cy="137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551176"/>
            <a:ext cx="115214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3136391"/>
            <a:ext cx="1152144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장면/시간대 반환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166360"/>
            <a:ext cx="97840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algun Gothic"/>
              </a:rPr>
              <a:t>현재 코드베이스 기준: React/Vite 프론트 + FastAPI 백엔드 + InsightFace/ArcFace + FAISS 인덱스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시장 계산은 작게 시작하고 크게 확장한다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SOM은 우리 학교/한 구장부터, 비전은 전국 경기장 표준까지.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9966960" cy="21488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Malgun Gothic"/>
              </a:rPr>
              <a:t>Bottom-up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97480"/>
            <a:ext cx="8595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algun Gothic"/>
              </a:rPr>
              <a:t>SOM = 홈경기 72회 × 평균 관중 17,101명 × 업로드율 3% × 유료전환 10% × 객단가 3,900원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46120"/>
            <a:ext cx="56692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FF6B35"/>
                </a:solidFill>
                <a:latin typeface="Malgun Gothic"/>
              </a:rPr>
              <a:t>≈ 한 구장 1시즌 1,440만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9784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가정은 보수적으로 두고, 실제 발표 전 인터뷰·랜딩·사전결제로 업로드율과 전환율을 업데이트합니다.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수익은 세 번 생긴다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직접 결제, 광고, 동의 기반 제휴 데이터.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2971800" cy="2057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68296"/>
            <a:ext cx="256946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B2C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53512"/>
            <a:ext cx="2569464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고화질 컷/리포트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건당 3,900원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2148840"/>
            <a:ext cx="2971800" cy="2057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2368296"/>
            <a:ext cx="256946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광고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953512"/>
            <a:ext cx="2569464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영상 선택·결과 화면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구단/굿즈/식음료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148840"/>
            <a:ext cx="2971800" cy="2057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2368296"/>
            <a:ext cx="2569464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algun Gothic"/>
              </a:rPr>
              <a:t>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953512"/>
            <a:ext cx="2569464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명시 동의 기반</a:t>
            </a:r>
          </a:p>
          <a:p>
            <a:pPr algn="l"/>
            <a:r>
              <a:rPr sz="1600" b="1">
                <a:solidFill>
                  <a:srgbClr val="121212"/>
                </a:solidFill>
                <a:latin typeface="Malgun Gothic"/>
              </a:rPr>
              <a:t>얼굴 인증 제휴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97840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algun Gothic"/>
              </a:rPr>
              <a:t>VC에게는 ‘3개월 내 매출’보다 재방문·재구매와 CAC 대비 객단가를 보여주는 편이 안전합니다.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경쟁자는 없지 않다. 다만 출발점이 다르다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얼굴 인증 시장과 팬 콘텐츠 시장 사이의 빈 공간을 잡습니다.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743200" cy="566928"/>
          </a:xfrm>
          <a:prstGeom prst="rect">
            <a:avLst/>
          </a:prstGeom>
          <a:solidFill>
            <a:srgbClr val="080808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47672"/>
            <a:ext cx="259689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대안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28800"/>
            <a:ext cx="2377440" cy="566928"/>
          </a:xfrm>
          <a:prstGeom prst="rect">
            <a:avLst/>
          </a:prstGeom>
          <a:solidFill>
            <a:srgbClr val="080808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947672"/>
            <a:ext cx="22311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사용자 동기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828800"/>
            <a:ext cx="2560320" cy="566928"/>
          </a:xfrm>
          <a:prstGeom prst="rect">
            <a:avLst/>
          </a:prstGeom>
          <a:solidFill>
            <a:srgbClr val="080808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6712" y="1947672"/>
            <a:ext cx="2414015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약점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828800"/>
            <a:ext cx="2651760" cy="566928"/>
          </a:xfrm>
          <a:prstGeom prst="rect">
            <a:avLst/>
          </a:prstGeom>
          <a:solidFill>
            <a:srgbClr val="080808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947672"/>
            <a:ext cx="250545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우리 포지션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679191"/>
            <a:ext cx="259689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NOL/인터파크 얼굴패스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56032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2679191"/>
            <a:ext cx="22311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입장 편의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560320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6712" y="2679191"/>
            <a:ext cx="2414015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얼굴 등록의 심리 장벽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2560320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2679191"/>
            <a:ext cx="250545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21212"/>
                </a:solidFill>
                <a:latin typeface="Malgun Gothic"/>
              </a:rPr>
              <a:t>팬 보상 선행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91840"/>
            <a:ext cx="2743200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410712"/>
            <a:ext cx="259689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방송 다시보기/클립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291840"/>
            <a:ext cx="2377440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3410712"/>
            <a:ext cx="22311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추억 찾기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3291840"/>
            <a:ext cx="2560320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6712" y="3410712"/>
            <a:ext cx="2414015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탐색 시간이 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291840"/>
            <a:ext cx="2651760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3410712"/>
            <a:ext cx="250545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21212"/>
                </a:solidFill>
                <a:latin typeface="Malgun Gothic"/>
              </a:rPr>
              <a:t>얼굴 기반 즉시 검색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02336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142232"/>
            <a:ext cx="259689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구단 포토/굿즈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402336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4142232"/>
            <a:ext cx="22311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소장 욕구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4023360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4142232"/>
            <a:ext cx="2414015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121212"/>
                </a:solidFill>
                <a:latin typeface="Malgun Gothic"/>
              </a:rPr>
              <a:t>개인화가 제한적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4023360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4142232"/>
            <a:ext cx="250545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21212"/>
                </a:solidFill>
                <a:latin typeface="Malgun Gothic"/>
              </a:rPr>
              <a:t>개인 장면 자동 발견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다음 90일은 수요 검증에만 집중한다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고객검증 숫자가 덱의 신뢰를 결정합니다.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2148840" cy="11155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7830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  <a:latin typeface="Malgun Gothic"/>
              </a:rPr>
              <a:t>20명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06624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Malgun Gothic"/>
              </a:rPr>
              <a:t>1주 인터뷰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011680"/>
            <a:ext cx="2148840" cy="11155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76272"/>
            <a:ext cx="17830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  <a:latin typeface="Malgun Gothic"/>
              </a:rPr>
              <a:t>100명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706624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Malgun Gothic"/>
              </a:rPr>
              <a:t>대기자/랜딩 목표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011680"/>
            <a:ext cx="2148840" cy="11155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176272"/>
            <a:ext cx="17830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  <a:latin typeface="Malgun Gothic"/>
              </a:rPr>
              <a:t>10건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706624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Malgun Gothic"/>
              </a:rPr>
              <a:t>사전결제/유료의향 목표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78224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977639"/>
            <a:ext cx="9400032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리허설 전까지 실제 인용구 1개와 전환 숫자 1개를 확보한다.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17136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416552"/>
            <a:ext cx="9400032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야구 커뮤니티/학교/직관 동아리에서 초기 팬을 모집한다.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956048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855464"/>
            <a:ext cx="9400032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라이브 데모 실패 대비: 화면 녹화, GIF, PDF 백업을 준비한다.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부록 A. 법적 구조는 ‘속임수’가 아니라 명시 동의다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생체정보는 민감도가 높으므로 수집 목적과 제공 구조를 분리합니다.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5103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9674352" cy="4937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얼굴 사진 원본과 임베딩을 구분해 고지하고, 필요한 최소 범위만 처리한다.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96311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95727"/>
            <a:ext cx="9674352" cy="4937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서비스 이용 동의, 마케팅 동의, 제3자 제공 동의를 분리한다.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19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916935"/>
            <a:ext cx="9674352" cy="4937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토스 등 파트너 연계는 별도 동의 후 위탁/제휴/제3자 제공 구조 중 하나로 설계한다.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538727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438144"/>
            <a:ext cx="9674352" cy="4937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탈퇴·철회·파기, 보관 기간, 암호화, 접근권한, 유출 대응 절차를 약관과 UI에 노출한다.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59936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59352"/>
            <a:ext cx="9674352" cy="4937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Malgun Gothic"/>
              </a:rPr>
              <a:t>미성년자·민감정보·행사장 촬영 고지는 발표 전에 법률 검토가 필요하다.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7772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Source: 개인정보보호위원회, 생체정보 보호 안내서(2024.12)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76809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algun Gothic"/>
              </a:rPr>
              <a:t>부록 B. 예상 질문은 짧게 두괄식으로 답한다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판단력을 보여주는 Q&amp;A 스크립트입니다.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9966960" cy="594360"/>
          </a:xfrm>
          <a:prstGeom prst="rect">
            <a:avLst/>
          </a:prstGeom>
          <a:solidFill>
            <a:srgbClr val="EEEEEE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Malgun Gothic"/>
              </a:rPr>
              <a:t>경쟁사가 따라하면?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01952"/>
            <a:ext cx="6583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Malgun Gothic"/>
              </a:rPr>
              <a:t>데이터보다 팬 유입 맥락과 구단 채널 실행력이 방어력입니다.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60320"/>
            <a:ext cx="9966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Malgun Gothic"/>
              </a:rPr>
              <a:t>AI 비용은?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24912"/>
            <a:ext cx="6583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Malgun Gothic"/>
              </a:rPr>
              <a:t>전처리 인덱싱 후 검색만 수행해 건당 원가를 낮춥니다.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383280"/>
            <a:ext cx="9966960" cy="594360"/>
          </a:xfrm>
          <a:prstGeom prst="rect">
            <a:avLst/>
          </a:prstGeom>
          <a:solidFill>
            <a:srgbClr val="EEEEEE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47872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Malgun Gothic"/>
              </a:rPr>
              <a:t>개인정보 리스크는?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47872"/>
            <a:ext cx="6583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Malgun Gothic"/>
              </a:rPr>
              <a:t>별도 동의·목적 분리·파기 정책을 제품 첫 화면부터 설계합니다.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06240"/>
            <a:ext cx="9966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Malgun Gothic"/>
              </a:rPr>
              <a:t>학생 외 누가 쓰나?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370832"/>
            <a:ext cx="6583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Malgun Gothic"/>
              </a:rPr>
              <a:t>아이돌 공연, 마라톤, 축제처럼 ‘내가 찍힌 순간’을 찾는 이벤트로 확장합니다.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6400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부록 C. 마지막 문장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850392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우리는 얼굴 인증을 팔지 않습니다.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팬이 가장 찾고 싶어 하는 3초의 추억을 먼저 팔고,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그 다음 경기장 인증의 표준으로 확장합니다.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32120"/>
            <a:ext cx="93268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Ask: 90일 동안 파일럿 구장/동아리 1곳, 실제 팬 인터뷰 20명, 사전결제 10건을 검증합니다.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Ballpark Face Finder 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787878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